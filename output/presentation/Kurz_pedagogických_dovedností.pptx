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Kurz pedagogických dovedností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Krátký přehlední kurz zaměřený na rozvoj pedagogických kompetencí akademických pracovníků na Vysokém učení technickém v Brně. Pokrývá šest klíčových témat: vzdělávací cíle, plánování výuky, metody výuky, hodnocení a kritéria, zpětná vazba a reflexe. Kurz propojuje teoretické definice s praktickými doporučeními a aplikacemi v laboratořích a ateliérech. Cílem je podpořit přechod od teorie ke konkrétním zlepšením ve výuce.</a:t>
            </a:r>
          </a:p>
          <a:p>
            <a:r>
              <a:t>Dorota Egerlová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Úvod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66928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/>
            </a:pPr>
            <a:r>
              <a:t>• Účel kurzu: samostudijní mikrokurz pro začínající učitele – stručné rozvíjení základních pedagogických/didaktických dovedností.</a:t>
            </a:r>
          </a:p>
          <a:p>
            <a:pPr algn="l">
              <a:defRPr sz="1600"/>
            </a:pPr>
            <a:r>
              <a:t>• Struktura a čas: 6 studijních slidů (doporučeně 5 min/slid) + 6 testovacích slidů (2 min/slid).</a:t>
            </a:r>
          </a:p>
          <a:p>
            <a:pPr algn="l">
              <a:defRPr sz="1600"/>
            </a:pPr>
            <a:r>
              <a:t>• Trvání: 6×5 + 6×2 = 42 min; maximálně 50 min včetně rezervy.</a:t>
            </a:r>
          </a:p>
          <a:p>
            <a:pPr algn="l">
              <a:defRPr sz="1600"/>
            </a:pPr>
            <a:r>
              <a:t>• Obsah (6 témat): vzdělávací cíle; plánování výuky; metody výuky; hodnocení a kritéria; zpětná vazba; reflexe.</a:t>
            </a:r>
          </a:p>
          <a:p>
            <a:pPr algn="l">
              <a:defRPr sz="1600"/>
            </a:pPr>
            <a:r>
              <a:t>• Očekávané výsledky účasti:</a:t>
            </a:r>
          </a:p>
          <a:p>
            <a:pPr algn="l">
              <a:defRPr sz="1600"/>
            </a:pPr>
            <a:r>
              <a:t>• definovat základní didaktické pojmy;</a:t>
            </a:r>
          </a:p>
          <a:p>
            <a:pPr algn="l">
              <a:defRPr sz="1600"/>
            </a:pPr>
            <a:r>
              <a:t>• rozlišit a klasifikovat hlavní prvky výuky (cíle, metody, hodnocení, zpětná vazba);</a:t>
            </a:r>
          </a:p>
          <a:p>
            <a:pPr algn="l">
              <a:defRPr sz="1600"/>
            </a:pPr>
            <a:r>
              <a:t>• analyzovat a reflektovat jejich uplatnění v konkrétní výukové situaci.</a:t>
            </a:r>
          </a:p>
          <a:p>
            <a:pPr algn="l">
              <a:defRPr sz="1600"/>
            </a:pPr>
            <a:r>
              <a:t>• Praktické poznámky: studijní slidy jsou vratné; testy jsou typu SBA (vyberte vždy jednu nejlepší odpověď); dodržujte doporučené časy pro optimální průběh.</a:t>
            </a:r>
          </a:p>
        </p:txBody>
      </p:sp>
      <p:pic>
        <p:nvPicPr>
          <p:cNvPr id="4" name="Picture 3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Kontext a obsah kurzu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66928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/>
            </a:pPr>
            <a:r>
              <a:t>text</a:t>
            </a:r>
          </a:p>
          <a:p>
            <a:pPr algn="l">
              <a:defRPr sz="1600"/>
            </a:pPr>
            <a:r>
              <a:t>1. Definuj měřitelné cíle</a:t>
            </a:r>
          </a:p>
          <a:p>
            <a:pPr algn="l">
              <a:defRPr sz="1600"/>
            </a:pPr>
            <a:r>
              <a:t>• Urči konkrétní výsledky a metriky úspěchu</a:t>
            </a:r>
          </a:p>
          <a:p>
            <a:pPr algn="l">
              <a:defRPr sz="1600"/>
            </a:pPr>
            <a:r>
              <a:t>2. Vyber obsah a metody, které k nim vedou</a:t>
            </a:r>
          </a:p>
          <a:p>
            <a:pPr algn="l">
              <a:defRPr sz="1600"/>
            </a:pPr>
            <a:r>
              <a:t>• Zvol materiály a aktivity podporující cíle</a:t>
            </a:r>
          </a:p>
          <a:p>
            <a:pPr algn="l">
              <a:defRPr sz="1600"/>
            </a:pPr>
            <a:r>
              <a:t>3. Navrhni hodnocení, které ověří cíle</a:t>
            </a:r>
          </a:p>
          <a:p>
            <a:pPr algn="l">
              <a:defRPr sz="1600"/>
            </a:pPr>
            <a:r>
              <a:t>• Použij formativní i sumativní nástroje měření</a:t>
            </a:r>
          </a:p>
          <a:p>
            <a:pPr algn="l">
              <a:defRPr sz="1600"/>
            </a:pPr>
            <a:r>
              <a:t>4. Přizpůsob podle kontextu a zpětné vazby</a:t>
            </a:r>
          </a:p>
          <a:p>
            <a:pPr algn="l">
              <a:defRPr sz="1600"/>
            </a:pPr>
            <a:r>
              <a:t>• Iteruj plán na základě dat a potřeb účastníků</a:t>
            </a:r>
          </a:p>
          <a:p>
            <a:pPr algn="l">
              <a:defRPr sz="1600"/>
            </a:pPr>
            <a:r>
              <a:t>• Sleduj dlouhodobé dopady a upravuj průběžně</a:t>
            </a:r>
          </a:p>
        </p:txBody>
      </p:sp>
      <p:pic>
        <p:nvPicPr>
          <p:cNvPr id="4" name="Picture 3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Téma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66928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/>
            </a:pPr>
            <a:r>
              <a:t>• Co jsou vzdělávací cíle: očekávané výsledky učení; musí být studentům srozumitelně formulovány.</a:t>
            </a:r>
          </a:p>
          <a:p>
            <a:pPr algn="l">
              <a:defRPr sz="1600"/>
            </a:pPr>
            <a:r>
              <a:t>• Srozumitelnost pro studenty: pište je jasně, používejte běžný jazyk a sdílejte je na začátku kurzu.</a:t>
            </a:r>
          </a:p>
          <a:p>
            <a:pPr algn="l">
              <a:defRPr sz="1600"/>
            </a:pPr>
            <a:r>
              <a:t>• Praktické doporučení: formulujte *měřitelné* cíle — určete konkrétní výsledky a metriky úspěchu.</a:t>
            </a:r>
          </a:p>
          <a:p>
            <a:pPr algn="l">
              <a:defRPr sz="1600"/>
            </a:pPr>
            <a:r>
              <a:t>• Použijte akční slovesa: popište, co student "dokáže", "vyjmenuje", "analyzuje" apod., aby byl cíl konkrétní.</a:t>
            </a:r>
          </a:p>
          <a:p>
            <a:pPr algn="l">
              <a:defRPr sz="1600"/>
            </a:pPr>
            <a:r>
              <a:t>• Definujte metriky: uveďte indikátory úspěchu (např. procento, kvalita výstupu, konkrétní úroveň dovednosti).</a:t>
            </a:r>
          </a:p>
          <a:p>
            <a:pPr algn="l">
              <a:defRPr sz="1600"/>
            </a:pPr>
            <a:r>
              <a:t>• Zarovnání s výukou: vyberte obsah a metody, které k cílům vedou, a navrhněte hodnocení, které je ověří.</a:t>
            </a:r>
          </a:p>
          <a:p>
            <a:pPr algn="l">
              <a:defRPr sz="1600"/>
            </a:pPr>
            <a:r>
              <a:t>• Výukové metody: kombinujte přednášky, cvičení a praktika tak, aby podporovaly dosažení cílů.</a:t>
            </a:r>
          </a:p>
          <a:p>
            <a:pPr algn="l">
              <a:defRPr sz="1600"/>
            </a:pPr>
            <a:r>
              <a:t>• Aplikace v praxi: slaďte cíle s praktickými požadavky laboratoří/ateliérů a s kritérii hodnocení.</a:t>
            </a:r>
          </a:p>
          <a:p>
            <a:pPr algn="l">
              <a:defRPr sz="1600"/>
            </a:pPr>
            <a:r>
              <a:t>• Hodnocení a rubriky: vytvořte rubriky a zkušební úlohy přímo mapované na cíle.</a:t>
            </a:r>
          </a:p>
          <a:p>
            <a:pPr algn="l">
              <a:defRPr sz="1600"/>
            </a:pPr>
            <a:r>
              <a:t>• Doporučený čas pro tento studijní slid: 5 minut.</a:t>
            </a:r>
          </a:p>
        </p:txBody>
      </p:sp>
      <p:pic>
        <p:nvPicPr>
          <p:cNvPr id="4" name="Picture 3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Téma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66928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/>
            </a:pPr>
            <a:r>
              <a:t>1. Definuj dlouhodobé cíle kurzu — zaměř se na očekávané výsledky a klíčové kompetence</a:t>
            </a:r>
          </a:p>
          <a:p>
            <a:pPr algn="l">
              <a:defRPr sz="1600"/>
            </a:pPr>
            <a:r>
              <a:t>2. Upřesni, jaké změny v dovednostech a znalostech mají účastníci dosáhnout</a:t>
            </a:r>
          </a:p>
          <a:p>
            <a:pPr algn="l">
              <a:defRPr sz="1600"/>
            </a:pPr>
            <a:r>
              <a:t>3. Rozděl je na krátkodobé cíle pro každou lekci a modul</a:t>
            </a:r>
          </a:p>
          <a:p>
            <a:pPr algn="l">
              <a:defRPr sz="1600"/>
            </a:pPr>
            <a:r>
              <a:t>4. Formuluj krátkodobé cíle tak, aby byly měřitelné a dosažitelné</a:t>
            </a:r>
          </a:p>
          <a:p>
            <a:pPr algn="l">
              <a:defRPr sz="1600"/>
            </a:pPr>
            <a:r>
              <a:t>5. Pro každou lekci: vyber obsah, metody a časovou dotaci</a:t>
            </a:r>
          </a:p>
          <a:p>
            <a:pPr algn="l">
              <a:defRPr sz="1600"/>
            </a:pPr>
            <a:r>
              <a:t>6. Plánuj konkrétní aktivity, učební materiály a časový rozpis pro lekci</a:t>
            </a:r>
          </a:p>
          <a:p>
            <a:pPr algn="l">
              <a:defRPr sz="1600"/>
            </a:pPr>
            <a:r>
              <a:t>7. Navrhni hodnocení, které ověří krátkodobé i dlouhodobé cíle</a:t>
            </a:r>
          </a:p>
          <a:p>
            <a:pPr algn="l">
              <a:defRPr sz="1600"/>
            </a:pPr>
            <a:r>
              <a:t>8. Zahrň formativní i sumativní nástroje pro kontrolu pokroku</a:t>
            </a:r>
          </a:p>
          <a:p>
            <a:pPr algn="l">
              <a:defRPr sz="1600"/>
            </a:pPr>
            <a:r>
              <a:t>9. Iteruj na základě zpětné vazby a reflexe účastníků i lektorů</a:t>
            </a:r>
          </a:p>
          <a:p>
            <a:pPr algn="l">
              <a:defRPr sz="1600"/>
            </a:pPr>
            <a:r>
              <a:t>10. Aktualizuj plán, metody a materiály podle získaných poznatků</a:t>
            </a:r>
          </a:p>
        </p:txBody>
      </p:sp>
      <p:pic>
        <p:nvPicPr>
          <p:cNvPr id="4" name="Picture 3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Téma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66928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/>
            </a:pPr>
            <a:r>
              <a:t>• Metody výuky: způsoby zprostředkování učiva studentům (výklad, diskuse, aktivizující přístupy).</a:t>
            </a:r>
          </a:p>
          <a:p>
            <a:pPr algn="l">
              <a:defRPr sz="1600"/>
            </a:pPr>
            <a:r>
              <a:t>• Postup výběru metody — jednoduchý algoritmus:</a:t>
            </a:r>
          </a:p>
          <a:p>
            <a:pPr algn="l">
              <a:defRPr sz="1600"/>
            </a:pPr>
            <a:r>
              <a:t>1. Definujte výukové cíle pro danou lekci.</a:t>
            </a:r>
          </a:p>
          <a:p>
            <a:pPr algn="l">
              <a:defRPr sz="1600"/>
            </a:pPr>
            <a:r>
              <a:t>2. Zhodnoťte obsah a charakteristiky studentů.</a:t>
            </a:r>
          </a:p>
          <a:p>
            <a:pPr algn="l">
              <a:defRPr sz="1600"/>
            </a:pPr>
            <a:r>
              <a:t>3. Zvolte a kombinujte metody tak, aby cíle, obsah a studenti byly sladěni.</a:t>
            </a:r>
          </a:p>
          <a:p>
            <a:pPr algn="l">
              <a:defRPr sz="1600"/>
            </a:pPr>
            <a:r>
              <a:t>4. Ověřte účinnost a upravte (iterace podle zpětné vazby).</a:t>
            </a:r>
          </a:p>
          <a:p>
            <a:pPr algn="l">
              <a:defRPr sz="1600"/>
            </a:pPr>
            <a:r>
              <a:t>• Proč kombinovat metody: přizpůsobení různým typům obsahu, vyšší pozornost a lepší zapojení studentů.</a:t>
            </a:r>
          </a:p>
          <a:p>
            <a:pPr algn="l">
              <a:defRPr sz="1600"/>
            </a:pPr>
            <a:r>
              <a:t>• Aktivizující přístupy: umožňují studentům aktivně pracovat s učivem — vhodné zejména pro praktické části.</a:t>
            </a:r>
          </a:p>
          <a:p>
            <a:pPr algn="l">
              <a:defRPr sz="1600"/>
            </a:pPr>
            <a:r>
              <a:t>• Praktická doporučení pro laboratoře/ateliéry: slučujte krátké instruktážní bloky (výklad) s pracovním cvičením a stručnými diskusemi o postupu; měřte pokrok formativně.</a:t>
            </a:r>
          </a:p>
        </p:txBody>
      </p:sp>
      <p:pic>
        <p:nvPicPr>
          <p:cNvPr id="4" name="Picture 3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Téma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66928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/>
            </a:pPr>
            <a:r>
              <a:t>1. Určete, co budete hodnotit.</a:t>
            </a:r>
          </a:p>
          <a:p>
            <a:pPr algn="l">
              <a:defRPr sz="1600"/>
            </a:pPr>
            <a:r>
              <a:t>• Zaměřte se na konkrétní dovednosti, znalosti a produkty.</a:t>
            </a:r>
          </a:p>
          <a:p>
            <a:pPr algn="l">
              <a:defRPr sz="1600"/>
            </a:pPr>
            <a:r>
              <a:t>2. Sdělte kritéria studentům před zadáním úkolu.</a:t>
            </a:r>
          </a:p>
          <a:p>
            <a:pPr algn="l">
              <a:defRPr sz="1600"/>
            </a:pPr>
            <a:r>
              <a:t>• Ujistěte se, že rozumějí očekáváním a stupnicím.</a:t>
            </a:r>
          </a:p>
          <a:p>
            <a:pPr algn="l">
              <a:defRPr sz="1600"/>
            </a:pPr>
            <a:r>
              <a:t>3. Navážete každé kritérium na konkrétní výukový cíl.</a:t>
            </a:r>
          </a:p>
          <a:p>
            <a:pPr algn="l">
              <a:defRPr sz="1600"/>
            </a:pPr>
            <a:r>
              <a:t>• Spojte hodnocení s tím, co má student umět po výuce.</a:t>
            </a:r>
          </a:p>
          <a:p>
            <a:pPr algn="l">
              <a:defRPr sz="1600"/>
            </a:pPr>
            <a:r>
              <a:t>4. Použijte jednoduchou hodnoticí rubriku nebo jasná pravidla.</a:t>
            </a:r>
          </a:p>
          <a:p>
            <a:pPr algn="l">
              <a:defRPr sz="1600"/>
            </a:pPr>
            <a:r>
              <a:t>• Preferujte přehlednost a konzistenci při hodnocení.</a:t>
            </a:r>
          </a:p>
          <a:p>
            <a:pPr algn="l">
              <a:defRPr sz="1600"/>
            </a:pPr>
            <a:r>
              <a:t>• Poskytněte příklady úspěšných prací.</a:t>
            </a:r>
          </a:p>
        </p:txBody>
      </p:sp>
      <p:pic>
        <p:nvPicPr>
          <p:cNvPr id="4" name="Picture 3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Téma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66928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/>
            </a:pPr>
            <a:r>
              <a:t>Zpětná vazba jako nástroj zlepšení: stručně a akčně</a:t>
            </a:r>
          </a:p>
          <a:p>
            <a:pPr algn="l">
              <a:defRPr sz="1600"/>
            </a:pPr>
            <a:r>
              <a:t>• Hlavní rozdíl: bodové/sumativní hodnocení shrnuje výkon na konci; formativní zpětná vazba podporuje průběžné učení a zlepšování výkonu.</a:t>
            </a:r>
          </a:p>
          <a:p>
            <a:pPr algn="l">
              <a:defRPr sz="1600"/>
            </a:pPr>
            <a:r>
              <a:t>• Formativní přístup je průběžný, zaměřený na změnu chování a růst studenta.</a:t>
            </a:r>
          </a:p>
          <a:p>
            <a:pPr algn="l">
              <a:defRPr sz="1600"/>
            </a:pPr>
            <a:r>
              <a:t>• Kvalitní zpětná vazba — buďte konkrétní, včasní, konstruktivní; zaměřte se na to, jak student může svou práci vylepšit.</a:t>
            </a:r>
          </a:p>
          <a:p>
            <a:pPr algn="l">
              <a:defRPr sz="1600"/>
            </a:pPr>
            <a:r>
              <a:t>• Uveďte pozorovatelné chování, konkrétní návrhy a očekávaný výsledek.</a:t>
            </a:r>
          </a:p>
          <a:p>
            <a:pPr algn="l">
              <a:defRPr sz="1600"/>
            </a:pPr>
            <a:r>
              <a:t>• Jednoduchý 3‑krokový postup pro praxi: 1) popište pozorovatelný výkon; 2) uveďte, co bylo dobré + konkrétní návrh zlepšení; 3) dejte okamžitou reakci a požádejte o následnou úpravu.</a:t>
            </a:r>
          </a:p>
          <a:p>
            <a:pPr algn="l">
              <a:defRPr sz="1600"/>
            </a:pPr>
            <a:r>
              <a:t>• Vyžadujte reflexi nebo opravu, abyste podpořili učení a sledovali pokrok.</a:t>
            </a:r>
          </a:p>
          <a:p>
            <a:pPr algn="l">
              <a:defRPr sz="1600"/>
            </a:pPr>
            <a:r>
              <a:t>• Doporučení pro laboratoře/ateliéry: krátké komentáře ihned po výkonu; ukažte příklady úspěšných řešení; pravidelně měřte pokrok formativně a dejte studentům prostor k reakci.</a:t>
            </a:r>
          </a:p>
          <a:p>
            <a:pPr algn="l">
              <a:defRPr sz="1600"/>
            </a:pPr>
            <a:r>
              <a:t>• Krátké ukázky a rychlá zpětná vazba vedou k rychlejším zlepšením.</a:t>
            </a:r>
          </a:p>
        </p:txBody>
      </p:sp>
      <p:pic>
        <p:nvPicPr>
          <p:cNvPr id="4" name="Picture 3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Téma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66928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/>
            </a:pPr>
            <a:r>
              <a:t>pseudo</a:t>
            </a:r>
          </a:p>
          <a:p>
            <a:pPr algn="l">
              <a:defRPr sz="1600"/>
            </a:pPr>
            <a:r>
              <a:t>REFLECT:</a:t>
            </a:r>
          </a:p>
          <a:p>
            <a:pPr algn="l">
              <a:defRPr sz="1600"/>
            </a:pPr>
            <a:r>
              <a:t>1. Zaznamenej: průběh výuky, klíčové momenty, chování studentů, dosažené výsledky</a:t>
            </a:r>
          </a:p>
          <a:p>
            <a:pPr algn="l">
              <a:defRPr sz="1600"/>
            </a:pPr>
            <a:r>
              <a:t>2. Dokumentuj: konkrétní příklady problémů, úspěchů a netypických situací</a:t>
            </a:r>
          </a:p>
          <a:p>
            <a:pPr algn="l">
              <a:defRPr sz="1600"/>
            </a:pPr>
            <a:r>
              <a:t>3. Analyzuj: co fungovalo a proč; co nefungovalo a proč</a:t>
            </a:r>
          </a:p>
          <a:p>
            <a:pPr algn="l">
              <a:defRPr sz="1600"/>
            </a:pPr>
            <a:r>
              <a:t>4. Hledej vzorce v chování a výsledcích napříč hodinami</a:t>
            </a:r>
          </a:p>
          <a:p>
            <a:pPr algn="l">
              <a:defRPr sz="1600"/>
            </a:pPr>
            <a:r>
              <a:t>5. Využij: zpětnou vazbu studentů jako podklad pro rozhodování</a:t>
            </a:r>
          </a:p>
          <a:p>
            <a:pPr algn="l">
              <a:defRPr sz="1600"/>
            </a:pPr>
            <a:r>
              <a:t>6. Konzultuj s kolegy: sdílej poznatky a získej další pohledy</a:t>
            </a:r>
          </a:p>
          <a:p>
            <a:pPr algn="l">
              <a:defRPr sz="1600"/>
            </a:pPr>
            <a:r>
              <a:t>7. Upravit: metody, tempo, zadání podle analýzy</a:t>
            </a:r>
          </a:p>
          <a:p>
            <a:pPr algn="l">
              <a:defRPr sz="1600"/>
            </a:pPr>
            <a:r>
              <a:t>8. Naplánuj: konkrétní kroky, termíny a kritéria úspěchu pro změny</a:t>
            </a:r>
          </a:p>
        </p:txBody>
      </p:sp>
      <p:pic>
        <p:nvPicPr>
          <p:cNvPr id="4" name="Picture 3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Aplikace do praxe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66928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/>
            </a:pPr>
            <a:r>
              <a:t>for každá_lekce:</a:t>
            </a:r>
          </a:p>
          <a:p>
            <a:pPr algn="l">
              <a:defRPr sz="1600"/>
            </a:pPr>
            <a:r>
              <a:t>plánuj(cíle, úkoly, kritéria, časový_rámec)</a:t>
            </a:r>
          </a:p>
          <a:p>
            <a:pPr algn="l">
              <a:defRPr sz="1600"/>
            </a:pPr>
            <a:r>
              <a:t>připrav_materiály(diferenciace, pomůcky)</a:t>
            </a:r>
          </a:p>
          <a:p>
            <a:pPr algn="l">
              <a:defRPr sz="1600"/>
            </a:pPr>
            <a:r>
              <a:t>realizuj(metody, zapojení_studentů)</a:t>
            </a:r>
          </a:p>
          <a:p>
            <a:pPr algn="l">
              <a:defRPr sz="1600"/>
            </a:pPr>
            <a:r>
              <a:t>facilituj_diskusi_a_aktivity</a:t>
            </a:r>
          </a:p>
          <a:p>
            <a:pPr algn="l">
              <a:defRPr sz="1600"/>
            </a:pPr>
            <a:r>
              <a:t>měř(progres(formativně), výsledky(sumativně))</a:t>
            </a:r>
          </a:p>
          <a:p>
            <a:pPr algn="l">
              <a:defRPr sz="1600"/>
            </a:pPr>
            <a:r>
              <a:t>sbírej_data(portfolio, testy, pozorování)</a:t>
            </a:r>
          </a:p>
          <a:p>
            <a:pPr algn="l">
              <a:defRPr sz="1600"/>
            </a:pPr>
            <a:r>
              <a:t>dej_zpětnou_vazbu(rychle, konkrétně, motivačně)</a:t>
            </a:r>
          </a:p>
          <a:p>
            <a:pPr algn="l">
              <a:defRPr sz="1600"/>
            </a:pPr>
            <a:r>
              <a:t>reflektuj_a_uprav(plán, metody, hodnocení)</a:t>
            </a:r>
          </a:p>
          <a:p>
            <a:pPr algn="l">
              <a:defRPr sz="1600"/>
            </a:pPr>
            <a:r>
              <a:t>dokumentuj_a_sdílej_změny</a:t>
            </a:r>
          </a:p>
        </p:txBody>
      </p:sp>
      <p:pic>
        <p:nvPicPr>
          <p:cNvPr id="4" name="Picture 3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Závěr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66928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/>
            </a:pPr>
            <a:r>
              <a:t>• Stručné shrnutí: mikrokurz obsahuje 6 klíčových témat — vzdělávací cíle, plánování, metody, hodnocení, zpětná vazba, reflexe.</a:t>
            </a:r>
          </a:p>
          <a:p>
            <a:pPr algn="l">
              <a:defRPr sz="1600"/>
            </a:pPr>
            <a:r>
              <a:t>• Cíl mikrokurzu: definovat základní didaktické pojmy, rozlišit hlavní prvky výuky a analyzovat jejich uplatnění v konkrétních výukových situacích.</a:t>
            </a:r>
          </a:p>
          <a:p>
            <a:pPr algn="l">
              <a:defRPr sz="1600"/>
            </a:pPr>
            <a:r>
              <a:t>• Časový rámec (doporučeno): studijní část 6 × 5 min = 30 min; testovací část 6 × 2 min ≈ 12 min.</a:t>
            </a:r>
          </a:p>
          <a:p>
            <a:pPr algn="l">
              <a:defRPr sz="1600"/>
            </a:pPr>
            <a:r>
              <a:t>• Celkem doporučeně do 50 min.</a:t>
            </a:r>
          </a:p>
          <a:p>
            <a:pPr algn="l">
              <a:defRPr sz="1600"/>
            </a:pPr>
            <a:r>
              <a:t>• Praktický 4‑krokový postup (pseudokód):</a:t>
            </a:r>
          </a:p>
          <a:p>
            <a:pPr algn="l">
              <a:defRPr sz="1600"/>
            </a:pPr>
            <a:r>
              <a:t>planuj(cíle, úkoly, kritéria, čas) → realizuj(metody, zapojení_studentů) → měř(formativně/sumativně) → reflektuj_a_uprav(plán, metody, hodnocení)</a:t>
            </a:r>
          </a:p>
          <a:p>
            <a:pPr algn="l">
              <a:defRPr sz="1600"/>
            </a:pPr>
            <a:r>
              <a:t>• Krok 1 — plánuj: stanovte jasné cíle, konkrétní úkoly a hodnoticí kritéria spolu s časovým rozpisem.</a:t>
            </a:r>
          </a:p>
          <a:p>
            <a:pPr algn="l">
              <a:defRPr sz="1600"/>
            </a:pPr>
            <a:r>
              <a:t>• Krok 2 — realizuj: vyberte vhodné metody a aktivizujte studenty, zajistěte zapojení a průběžnou podporu.</a:t>
            </a:r>
          </a:p>
          <a:p>
            <a:pPr algn="l">
              <a:defRPr sz="1600"/>
            </a:pPr>
            <a:r>
              <a:t>• Krok 3 — měř: sbírejte data formativně i sumativně, hodnotte naplnění cílů a průběh činností.</a:t>
            </a:r>
          </a:p>
          <a:p>
            <a:pPr algn="l">
              <a:defRPr sz="1600"/>
            </a:pPr>
            <a:r>
              <a:t>• Reflexe jako klíč k profesnímu růstu: systematicky analyzujte průběh, posuďte naplnění cílů a plánujte změny.</a:t>
            </a:r>
          </a:p>
        </p:txBody>
      </p:sp>
      <p:pic>
        <p:nvPicPr>
          <p:cNvPr id="4" name="Picture 3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